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oblem &amp; Solution" id="{50257197-0cd8-993a-a748-70fde78903fb}">
          <p14:sldIdLst>
            <p14:sldId id="256"/>
          </p14:sldIdLst>
        </p14:section>
        <p14:section name="Results" id="{bba48547-6941-e528-0db4-25ec0262a033}">
          <p14:sldIdLst>
            <p14:sldId id="257"/>
          </p14:sldIdLst>
        </p14:section>
        <p14:section name="Outlook" id="{5f30b8b2-6d06-ba9a-798a-aeb36738035d}">
          <p14:sldIdLst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Pseudorandom generators are deterministic algorithms. A single qubit put into superposition by a Hadamard gate gives a 50/50 outcome on measurement. We ran 10,000 measurements in Qiskit.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generators pass a chi-square test at 10,000 bits (p &gt; 0.05). The quantum run is off 50/50 by 0.30 percentage points, the classical run by 0.38.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current run is a simulator, so it shows the method but not true physical entropy. Next step is real IBM Quantum hardware, longer sequences, and a broader randomness test suite.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3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3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QUANTUM RANDOM NUMBER GENERATOR (QRNG)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Randomness from a Qubit</a:t>
            </a:r>
            <a:endParaRPr lang="en-US" sz="3400" dirty="0"/>
          </a:p>
        </p:txBody>
      </p:sp>
      <p:sp>
        <p:nvSpPr>
          <p:cNvPr id="4" name="Card Problem"/>
          <p:cNvSpPr/>
          <p:nvPr/>
        </p:nvSpPr>
        <p:spPr>
          <a:xfrm>
            <a:off x="457200" y="1371600"/>
            <a:ext cx="4023360" cy="1874520"/>
          </a:xfrm>
          <a:prstGeom prst="roundRect">
            <a:avLst>
              <a:gd name="adj" fmla="val 487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Problem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87452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Conventional random generators are algorithmic and produce pseudorandom values.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High-security applications require reliable and unpredictable randomness.</a:t>
            </a:r>
            <a:endParaRPr lang="en-US" sz="1400" dirty="0"/>
          </a:p>
        </p:txBody>
      </p:sp>
      <p:sp>
        <p:nvSpPr>
          <p:cNvPr id="7" name="Card Our Solution"/>
          <p:cNvSpPr/>
          <p:nvPr/>
        </p:nvSpPr>
        <p:spPr>
          <a:xfrm>
            <a:off x="4663440" y="1371600"/>
            <a:ext cx="4023360" cy="1874520"/>
          </a:xfrm>
          <a:prstGeom prst="roundRect">
            <a:avLst>
              <a:gd name="adj" fmla="val 487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92040" y="15087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Our Solution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187452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Developed a 1-qubit QRNG using Qiskit.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 Hadamard (H) gate creates an equal superposition of 0 and 1.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Measurement produces a random bit.</a:t>
            </a:r>
            <a:endParaRPr lang="en-US" sz="1400" dirty="0"/>
          </a:p>
        </p:txBody>
      </p:sp>
      <p:sp>
        <p:nvSpPr>
          <p:cNvPr id="10" name="Step 1"/>
          <p:cNvSpPr/>
          <p:nvPr/>
        </p:nvSpPr>
        <p:spPr>
          <a:xfrm>
            <a:off x="525780" y="3474720"/>
            <a:ext cx="1645920" cy="640080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5780" y="34747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|0⟩</a:t>
            </a:r>
            <a:endParaRPr lang="en-US" sz="1600" dirty="0"/>
          </a:p>
        </p:txBody>
      </p:sp>
      <p:sp>
        <p:nvSpPr>
          <p:cNvPr id="12" name="Arrow 1"/>
          <p:cNvSpPr/>
          <p:nvPr/>
        </p:nvSpPr>
        <p:spPr>
          <a:xfrm>
            <a:off x="2263140" y="3675888"/>
            <a:ext cx="320040" cy="237744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Step 2"/>
          <p:cNvSpPr/>
          <p:nvPr/>
        </p:nvSpPr>
        <p:spPr>
          <a:xfrm>
            <a:off x="2674620" y="3474720"/>
            <a:ext cx="1645920" cy="640080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674620" y="34747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H Gate</a:t>
            </a:r>
            <a:endParaRPr lang="en-US" sz="1600" dirty="0"/>
          </a:p>
        </p:txBody>
      </p:sp>
      <p:sp>
        <p:nvSpPr>
          <p:cNvPr id="15" name="Arrow 2"/>
          <p:cNvSpPr/>
          <p:nvPr/>
        </p:nvSpPr>
        <p:spPr>
          <a:xfrm>
            <a:off x="4411980" y="3675888"/>
            <a:ext cx="320040" cy="237744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Step 3"/>
          <p:cNvSpPr/>
          <p:nvPr/>
        </p:nvSpPr>
        <p:spPr>
          <a:xfrm>
            <a:off x="4823460" y="3474720"/>
            <a:ext cx="1645920" cy="640080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23460" y="34747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Measurement</a:t>
            </a:r>
            <a:endParaRPr lang="en-US" sz="1600" dirty="0"/>
          </a:p>
        </p:txBody>
      </p:sp>
      <p:sp>
        <p:nvSpPr>
          <p:cNvPr id="18" name="Arrow 3"/>
          <p:cNvSpPr/>
          <p:nvPr/>
        </p:nvSpPr>
        <p:spPr>
          <a:xfrm>
            <a:off x="6560820" y="3675888"/>
            <a:ext cx="320040" cy="237744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Step 4"/>
          <p:cNvSpPr/>
          <p:nvPr/>
        </p:nvSpPr>
        <p:spPr>
          <a:xfrm>
            <a:off x="6972300" y="3474720"/>
            <a:ext cx="1645920" cy="640080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72300" y="34747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0 / 1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Experiment: </a:t>
            </a:r>
            <a:pPr algn="ctr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10,000 quantum measurements using Qiskit.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EXPERIMENT &amp; RESULTS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Quantum vs Classical Randomness</a:t>
            </a:r>
            <a:endParaRPr lang="en-US" sz="3400" dirty="0"/>
          </a:p>
        </p:txBody>
      </p:sp>
      <p:graphicFrame>
        <p:nvGraphicFramePr>
          <p:cNvPr id="3" name="Result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42062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325880"/>
                <a:gridCol w="1325880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Metric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Quantum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Classical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Total bits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10,000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10,000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Zeros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5,015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4,962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Ones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4,985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5,038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1 Percentage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49.85%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50.38%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Chi-square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0.09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0.5776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P-value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0.7642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0.4473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Result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4"/>
                          </a:solidFill>
                        </a:rPr>
                        <a:t>PASS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4"/>
                          </a:solidFill>
                        </a:rPr>
                        <a:t>PASS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5" name="Comparison chart" descr="Bar chart: Qiskit Quantum 49.85% ones vs Python Random 50.38% ones, against an ideal 50% li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371600"/>
            <a:ext cx="3749040" cy="2312014"/>
          </a:xfrm>
          <a:prstGeom prst="rect">
            <a:avLst/>
          </a:prstGeom>
        </p:spPr>
      </p:pic>
      <p:sp>
        <p:nvSpPr>
          <p:cNvPr id="6" name="Imbalance callout"/>
          <p:cNvSpPr/>
          <p:nvPr/>
        </p:nvSpPr>
        <p:spPr>
          <a:xfrm>
            <a:off x="4937760" y="3840480"/>
            <a:ext cx="3749040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074920" y="384048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0.30%</a:t>
            </a:r>
            <a:endParaRPr lang="en-US" sz="3200" dirty="0"/>
          </a:p>
        </p:txBody>
      </p:sp>
      <p:sp>
        <p:nvSpPr>
          <p:cNvPr id="8" name="Text 4"/>
          <p:cNvSpPr txBox="1"/>
          <p:nvPr/>
        </p:nvSpPr>
        <p:spPr>
          <a:xfrm>
            <a:off x="6446520" y="384048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Quantum imbalance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402336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KEY FINDING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427939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Both outputs are consistent with a 50/50 split.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Same bit count and same test: a fair comparison.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FROM QUANTUM PROTOTYPE TO REAL-WORLD APPLICATIONS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Industry Relevance &amp; Future Scope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Industry Applications</a:t>
            </a:r>
            <a:endParaRPr lang="en-US" sz="1800" dirty="0"/>
          </a:p>
        </p:txBody>
      </p:sp>
      <p:sp>
        <p:nvSpPr>
          <p:cNvPr id="5" name="Icon circle 1"/>
          <p:cNvSpPr/>
          <p:nvPr/>
        </p:nvSpPr>
        <p:spPr>
          <a:xfrm>
            <a:off x="457200" y="1783080"/>
            <a:ext cx="420624" cy="420624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 1" descr="Cybersecurity &amp; cryptograph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892808"/>
            <a:ext cx="201168" cy="20116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05840" y="1783080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Cybersecurity &amp; cryptography</a:t>
            </a:r>
            <a:endParaRPr lang="en-US" sz="1400" dirty="0"/>
          </a:p>
        </p:txBody>
      </p:sp>
      <p:sp>
        <p:nvSpPr>
          <p:cNvPr id="8" name="Icon circle 2"/>
          <p:cNvSpPr/>
          <p:nvPr/>
        </p:nvSpPr>
        <p:spPr>
          <a:xfrm>
            <a:off x="457200" y="2350008"/>
            <a:ext cx="420624" cy="420624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con 2" descr="Financial securit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459736"/>
            <a:ext cx="201168" cy="20116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005840" y="2350008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Financial security</a:t>
            </a:r>
            <a:endParaRPr lang="en-US" sz="1400" dirty="0"/>
          </a:p>
        </p:txBody>
      </p:sp>
      <p:sp>
        <p:nvSpPr>
          <p:cNvPr id="11" name="Icon circle 3"/>
          <p:cNvSpPr/>
          <p:nvPr/>
        </p:nvSpPr>
        <p:spPr>
          <a:xfrm>
            <a:off x="457200" y="2916936"/>
            <a:ext cx="420624" cy="420624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con 3" descr="Authentication and key generati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026664"/>
            <a:ext cx="201168" cy="20116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005840" y="2916936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Authentication and key generation</a:t>
            </a:r>
            <a:endParaRPr lang="en-US" sz="1400" dirty="0"/>
          </a:p>
        </p:txBody>
      </p:sp>
      <p:sp>
        <p:nvSpPr>
          <p:cNvPr id="14" name="Icon circle 4"/>
          <p:cNvSpPr/>
          <p:nvPr/>
        </p:nvSpPr>
        <p:spPr>
          <a:xfrm>
            <a:off x="457200" y="3483864"/>
            <a:ext cx="420624" cy="420624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con 4" descr="Secure communication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3593592"/>
            <a:ext cx="201168" cy="201168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005840" y="348386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Secure communications</a:t>
            </a:r>
            <a:endParaRPr lang="en-US" sz="1400" dirty="0"/>
          </a:p>
        </p:txBody>
      </p:sp>
      <p:sp>
        <p:nvSpPr>
          <p:cNvPr id="17" name="Icon circle 5"/>
          <p:cNvSpPr/>
          <p:nvPr/>
        </p:nvSpPr>
        <p:spPr>
          <a:xfrm>
            <a:off x="457200" y="4050792"/>
            <a:ext cx="420624" cy="420624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Icon 5" descr="Research and technology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4160520"/>
            <a:ext cx="201168" cy="201168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005840" y="4050792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Research and technology</a:t>
            </a:r>
            <a:endParaRPr lang="en-US" sz="1400" dirty="0"/>
          </a:p>
        </p:txBody>
      </p:sp>
      <p:sp>
        <p:nvSpPr>
          <p:cNvPr id="20" name="Panel Value"/>
          <p:cNvSpPr/>
          <p:nvPr/>
        </p:nvSpPr>
        <p:spPr>
          <a:xfrm>
            <a:off x="3703320" y="1325880"/>
            <a:ext cx="4983480" cy="1261872"/>
          </a:xfrm>
          <a:prstGeom prst="roundRect">
            <a:avLst>
              <a:gd name="adj" fmla="val 579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1" name="Text 14"/>
          <p:cNvSpPr txBox="1"/>
          <p:nvPr/>
        </p:nvSpPr>
        <p:spPr>
          <a:xfrm>
            <a:off x="3886200" y="1399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4"/>
                </a:solidFill>
              </a:rPr>
              <a:t>VALUE</a:t>
            </a:r>
            <a:endParaRPr lang="en-US" sz="1100" dirty="0"/>
          </a:p>
        </p:txBody>
      </p:sp>
      <p:sp>
        <p:nvSpPr>
          <p:cNvPr id="22" name="Text 15"/>
          <p:cNvSpPr txBox="1"/>
          <p:nvPr/>
        </p:nvSpPr>
        <p:spPr>
          <a:xfrm>
            <a:off x="3886200" y="1627632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Demonstrates quantum measurement for random-bit generation.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Provides a measurable comparison with a classical random generator.</a:t>
            </a:r>
            <a:endParaRPr lang="en-US" sz="1400" dirty="0"/>
          </a:p>
        </p:txBody>
      </p:sp>
      <p:sp>
        <p:nvSpPr>
          <p:cNvPr id="23" name="Panel Current Limitation"/>
          <p:cNvSpPr/>
          <p:nvPr/>
        </p:nvSpPr>
        <p:spPr>
          <a:xfrm>
            <a:off x="3703320" y="2679192"/>
            <a:ext cx="4983480" cy="749808"/>
          </a:xfrm>
          <a:prstGeom prst="roundRect">
            <a:avLst>
              <a:gd name="adj" fmla="val 975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4" name="Text 17"/>
          <p:cNvSpPr txBox="1"/>
          <p:nvPr/>
        </p:nvSpPr>
        <p:spPr>
          <a:xfrm>
            <a:off x="3886200" y="275234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3"/>
                </a:solidFill>
              </a:rPr>
              <a:t>CURRENT LIMITATION</a:t>
            </a:r>
            <a:endParaRPr lang="en-US" sz="1100" dirty="0"/>
          </a:p>
        </p:txBody>
      </p:sp>
      <p:sp>
        <p:nvSpPr>
          <p:cNvPr id="25" name="Text 18"/>
          <p:cNvSpPr txBox="1"/>
          <p:nvPr/>
        </p:nvSpPr>
        <p:spPr>
          <a:xfrm>
            <a:off x="3886200" y="2980944"/>
            <a:ext cx="4617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Uses Qiskit StatevectorSampler (a simulator).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It does not demonstrate physical quantum entropy.</a:t>
            </a:r>
            <a:endParaRPr lang="en-US" sz="1400" dirty="0"/>
          </a:p>
        </p:txBody>
      </p:sp>
      <p:sp>
        <p:nvSpPr>
          <p:cNvPr id="26" name="Panel Future Scope"/>
          <p:cNvSpPr/>
          <p:nvPr/>
        </p:nvSpPr>
        <p:spPr>
          <a:xfrm>
            <a:off x="3703320" y="3538728"/>
            <a:ext cx="4983480" cy="1188720"/>
          </a:xfrm>
          <a:prstGeom prst="roundRect">
            <a:avLst>
              <a:gd name="adj" fmla="val 615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7" name="Text 20"/>
          <p:cNvSpPr txBox="1"/>
          <p:nvPr/>
        </p:nvSpPr>
        <p:spPr>
          <a:xfrm>
            <a:off x="3886200" y="361188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FUTURE SCOPE</a:t>
            </a:r>
            <a:endParaRPr lang="en-US" sz="1100" dirty="0"/>
          </a:p>
        </p:txBody>
      </p:sp>
      <p:sp>
        <p:nvSpPr>
          <p:cNvPr id="28" name="Text 21"/>
          <p:cNvSpPr txBox="1"/>
          <p:nvPr/>
        </p:nvSpPr>
        <p:spPr>
          <a:xfrm>
            <a:off x="3886200" y="3840480"/>
            <a:ext cx="4617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Run the QRNG on real IBM Quantum hardware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Generate larger random sequences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Apply additional randomness tests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Explore integration with cryptographic systems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Quantum Night">
  <a:themeElements>
    <a:clrScheme name="Quantum Night">
      <a:dk1>
        <a:srgbClr val="0B1033"/>
      </a:dk1>
      <a:lt1>
        <a:srgbClr val="FFFFFF"/>
      </a:lt1>
      <a:dk2>
        <a:srgbClr val="1B2766"/>
      </a:dk2>
      <a:lt2>
        <a:srgbClr val="EEF2FF"/>
      </a:lt2>
      <a:accent1>
        <a:srgbClr val="00B4D8"/>
      </a:accent1>
      <a:accent2>
        <a:srgbClr val="7C5CFF"/>
      </a:accent2>
      <a:accent3>
        <a:srgbClr val="F5A524"/>
      </a:accent3>
      <a:accent4>
        <a:srgbClr val="16A34A"/>
      </a:accent4>
      <a:accent5>
        <a:srgbClr val="EF4444"/>
      </a:accent5>
      <a:accent6>
        <a:srgbClr val="94A3B8"/>
      </a:accent6>
      <a:hlink>
        <a:srgbClr val="00B4D8"/>
      </a:hlink>
      <a:folHlink>
        <a:srgbClr val="7C5CFF"/>
      </a:folHlink>
    </a:clrScheme>
    <a:fontScheme name="Quantum Nigh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Random Number Generator</dc:title>
  <dc:subject>PptxGenJS Presentation</dc:subject>
  <dc:creator>PptxGenJS</dc:creator>
  <cp:lastModifiedBy>PptxGenJS</cp:lastModifiedBy>
  <cp:revision>1</cp:revision>
  <dcterms:created xsi:type="dcterms:W3CDTF">2026-10-08T06:39:03Z</dcterms:created>
  <dcterms:modified xsi:type="dcterms:W3CDTF">2026-10-08T06:39:03Z</dcterms:modified>
</cp:coreProperties>
</file>